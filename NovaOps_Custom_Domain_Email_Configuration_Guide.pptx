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1BEFF"/>
                </a:solidFill>
              </a:rPr>
              <a:t>NovaOps Technologies</a:t>
            </a:r>
          </a:p>
          <a:p>
            <a:r>
              <a:rPr sz="3400" b="1">
                <a:solidFill>
                  <a:srgbClr val="FFFFFF"/>
                </a:solidFill>
              </a:rPr>
              <a:t>Custom Domain Email Configuration</a:t>
            </a:r>
          </a:p>
          <a:p>
            <a:r>
              <a:rPr sz="1800">
                <a:solidFill>
                  <a:srgbClr val="D2DCEB"/>
                </a:solidFill>
              </a:rPr>
              <a:t>Cloudflare Email Routing + Gmail + SMTP2GO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46120"/>
            <a:ext cx="5303520" cy="1508760"/>
          </a:xfrm>
          <a:prstGeom prst="roundRect">
            <a:avLst/>
          </a:prstGeom>
          <a:solidFill>
            <a:srgbClr val="23314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Domain: novaopstechnologies.online
Receiving: Cloudflare → Gmail
Sending: Gmail → SMTP2GO → recipient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3246120"/>
            <a:ext cx="4754880" cy="1508760"/>
          </a:xfrm>
          <a:prstGeom prst="roundRect">
            <a:avLst/>
          </a:prstGeom>
          <a:solidFill>
            <a:srgbClr val="23314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Custom addresses
info@ • support@ • admin@ • karthicksuresh@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4C3DC"/>
                </a:solidFill>
              </a:rPr>
              <a:t>Step-by-step guide with screenshots from the actual setup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How the setup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One Gmail mailbox, multiple custom addresses, one SMTP2GO SMTP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64592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034"/>
                </a:solidFill>
              </a:rPr>
              <a:t>External sender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148840"/>
            <a:ext cx="1645920" cy="1051560"/>
          </a:xfrm>
          <a:prstGeom prst="roundRect">
            <a:avLst/>
          </a:prstGeom>
          <a:solidFill>
            <a:srgbClr val="EBF3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034"/>
                </a:solidFill>
              </a:rPr>
              <a:t>Cloudflare
Email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148840"/>
            <a:ext cx="1645920" cy="1051560"/>
          </a:xfrm>
          <a:prstGeom prst="roundRect">
            <a:avLst/>
          </a:prstGeom>
          <a:solidFill>
            <a:srgbClr val="EBF9F1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034"/>
                </a:solidFill>
              </a:rPr>
              <a:t>Gmail
Mailbox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148840"/>
            <a:ext cx="1645920" cy="1051560"/>
          </a:xfrm>
          <a:prstGeom prst="roundRect">
            <a:avLst/>
          </a:prstGeom>
          <a:solidFill>
            <a:srgbClr val="EBF3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034"/>
                </a:solidFill>
              </a:rPr>
              <a:t>SMTP2GO
SMTP relay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148840"/>
            <a:ext cx="164592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034"/>
                </a:solidFill>
              </a:rPr>
              <a:t>Recipient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2441448"/>
            <a:ext cx="411480" cy="457200"/>
          </a:xfrm>
          <a:prstGeom prst="rightArrow">
            <a:avLst/>
          </a:prstGeom>
          <a:solidFill>
            <a:srgbClr val="2B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599432" y="2441448"/>
            <a:ext cx="411480" cy="457200"/>
          </a:xfrm>
          <a:prstGeom prst="rightArrow">
            <a:avLst/>
          </a:prstGeom>
          <a:solidFill>
            <a:srgbClr val="2B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022592" y="2441448"/>
            <a:ext cx="411480" cy="457200"/>
          </a:xfrm>
          <a:prstGeom prst="rightArrow">
            <a:avLst/>
          </a:prstGeom>
          <a:solidFill>
            <a:srgbClr val="2B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537192" y="2441448"/>
            <a:ext cx="411480" cy="457200"/>
          </a:xfrm>
          <a:prstGeom prst="rightArrow">
            <a:avLst/>
          </a:prstGeom>
          <a:solidFill>
            <a:srgbClr val="2B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794760"/>
            <a:ext cx="5074920" cy="1051560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Incoming: custom address → Cloudflare → novaopstechnologies@gmail.com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5074920" cy="1051560"/>
          </a:xfrm>
          <a:prstGeom prst="roundRect">
            <a:avLst/>
          </a:prstGeom>
          <a:solidFill>
            <a:srgbClr val="EBF9F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Outgoing: Gmail → SMTP2GO → recipient. The selected custom address is shown in From.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1 — Connect the domain to Cloudflare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Success condition: the Cloudflare zone is 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Add novaopstechnologies.online to Cloudflare.</a:t>
            </a:r>
          </a:p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Replace Hostinger nameservers with Cloudflare's assigned nameservers.</a:t>
            </a:r>
          </a:p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Keep website A/CNAME records unless you intentionally want to change the website.</a:t>
            </a:r>
          </a:p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Confirm Cloudflare shows the zone as 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303520"/>
            <a:ext cx="4663440" cy="685800"/>
          </a:xfrm>
          <a:prstGeom prst="roundRect">
            <a:avLst/>
          </a:prstGeom>
          <a:solidFill>
            <a:srgbClr val="FFF6E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Do not delete website DNS records just because Email Routing is enabled.</a:t>
            </a:r>
          </a:p>
        </p:txBody>
      </p:sp>
      <p:pic>
        <p:nvPicPr>
          <p:cNvPr id="8" name="Picture 7" descr="Screenshot 2026-09-22 at 12.32.2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71637"/>
            <a:ext cx="5989320" cy="37433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23560" y="1671637"/>
            <a:ext cx="5989320" cy="3743325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5961888"/>
            <a:ext cx="5989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Cloudflare zone / Email Service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2 — Add the Gmail destination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Cloudflare forwards incoming custom-domain mail to the verified Gmail mailbox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10561320" cy="914400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Go to Cloudflare → Email Routing → Destination addresses → Add address
Enter: novaopstechnologies@gmail.com</a:t>
            </a:r>
          </a:p>
        </p:txBody>
      </p:sp>
      <p:pic>
        <p:nvPicPr>
          <p:cNvPr id="7" name="Picture 6" descr="Screenshot 2026-09-22 at 12.37.44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1965960"/>
            <a:ext cx="6364222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44368" y="1965960"/>
            <a:ext cx="6364222" cy="3977639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618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Destination address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3 — Create routing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Create one forwarding rule for each custom address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5</a:t>
            </a:r>
          </a:p>
        </p:txBody>
      </p:sp>
      <p:pic>
        <p:nvPicPr>
          <p:cNvPr id="6" name="Picture 5" descr="Screenshot 2026-09-22 at 12.41.47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051560"/>
            <a:ext cx="6803135" cy="4251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24912" y="1051560"/>
            <a:ext cx="6803135" cy="425196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2180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Cloudflare Routing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486400"/>
            <a:ext cx="10515600" cy="621792"/>
          </a:xfrm>
          <a:prstGeom prst="roundRect">
            <a:avLst/>
          </a:prstGeom>
          <a:solidFill>
            <a:srgbClr val="EBF9F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info → Gmail   |   support → Gmail   |   admin → Gmail   |   karthicksuresh → Gmail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Routing rule form —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Create info@novaopstechnologies.online → novaopstechnologies@gmail.com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6</a:t>
            </a:r>
          </a:p>
        </p:txBody>
      </p:sp>
      <p:pic>
        <p:nvPicPr>
          <p:cNvPr id="6" name="Picture 5" descr="Screenshot 2026-09-22 at 12.42.5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1430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23160" y="1143000"/>
            <a:ext cx="7315200" cy="457200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33288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Create routing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5532120"/>
            <a:ext cx="10241280" cy="594360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Email pattern: info • Domain: novaopstechnologies.online • Action: Send to an 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4 — Test incoming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Use a different/external mailbox for the cleanest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Send from a different email account to info@novaopstechnologies.online.</a:t>
            </a:r>
          </a:p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Confirm the message arrives in novaopstechnologies@gmail.com.</a:t>
            </a:r>
          </a:p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Later repeat for support, admin and karthicksuresh.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663440"/>
            <a:ext cx="4846320" cy="1143000"/>
          </a:xfrm>
          <a:prstGeom prst="roundRect">
            <a:avLst/>
          </a:prstGeom>
          <a:solidFill>
            <a:srgbClr val="FFF6E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Avoid testing from the same Gmail account that is the Cloudflare destination. Gmail/Cloudflare can flag duplicate or loop-like routing.</a:t>
            </a:r>
          </a:p>
        </p:txBody>
      </p:sp>
      <p:pic>
        <p:nvPicPr>
          <p:cNvPr id="8" name="Picture 7" descr="Screenshot 2026-09-22 at 5.09.1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57337"/>
            <a:ext cx="5623560" cy="3514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60720" y="1557337"/>
            <a:ext cx="5623560" cy="3514725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5504688"/>
            <a:ext cx="5623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Cloudflare routing-related test 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5 — Set up SMTP2GO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SMTP2GO handles outgoing email; Cloudflare handles incoming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8</a:t>
            </a:r>
          </a:p>
        </p:txBody>
      </p:sp>
      <p:pic>
        <p:nvPicPr>
          <p:cNvPr id="6" name="Picture 5" descr="Screenshot 2026-09-22 at 2.46.1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09728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51760" y="1097280"/>
            <a:ext cx="6949440" cy="434340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58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SMTP2GO account / Verified Sender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532120"/>
            <a:ext cx="10424160" cy="640080"/>
          </a:xfrm>
          <a:prstGeom prst="roundRect">
            <a:avLst/>
          </a:prstGeom>
          <a:solidFill>
            <a:srgbClr val="EBF9F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Verify the sending domain: novaopstechnologies.online. One SMTP2GO account is enough for all four custom addresses.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6 — Create ONE SMTP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The same SMTP username/password can be used for all custom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9</a:t>
            </a:r>
          </a:p>
        </p:txBody>
      </p:sp>
      <p:pic>
        <p:nvPicPr>
          <p:cNvPr id="6" name="Picture 5" descr="Screenshot 2026-09-22 at 3.39.31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1051560"/>
            <a:ext cx="7242048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05456" y="1051560"/>
            <a:ext cx="7242048" cy="452628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96127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Add SMTP User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532120"/>
            <a:ext cx="10058400" cy="658368"/>
          </a:xfrm>
          <a:prstGeom prst="roundRect">
            <a:avLst/>
          </a:prstGeom>
          <a:solidFill>
            <a:srgbClr val="EBF9F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Example username: novaopstechnologies.online
Create a strong password and keep it private.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SMTP settings for Gmail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Use SMTP2GO's outgoing SMTP server, not Cloudflare MX 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663440" cy="658368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SMTP Server
mail.smtp2go.com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46634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Port
587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4663440" cy="658368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Username
Your SMTP2GO SMTP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21024"/>
            <a:ext cx="46634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Password
Your SMTP2GO SMTP-user password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62272"/>
            <a:ext cx="4663440" cy="658368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Security
TLS</a:t>
            </a:r>
          </a:p>
        </p:txBody>
      </p:sp>
      <p:pic>
        <p:nvPicPr>
          <p:cNvPr id="11" name="Picture 10" descr="Screenshot 2026-09-22 at 4.18.4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80197"/>
            <a:ext cx="5623560" cy="35147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715000" y="1580197"/>
            <a:ext cx="5623560" cy="3514725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5550407"/>
            <a:ext cx="5623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SMTP Users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5532120"/>
            <a:ext cx="4937760" cy="658368"/>
          </a:xfrm>
          <a:prstGeom prst="roundRect">
            <a:avLst/>
          </a:prstGeom>
          <a:solidFill>
            <a:srgbClr val="FFEFE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Do not use route3.mx.cloudflare.net as the outgoing SMTP server.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7 — Add info@ to Gmail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Gmail → Settings → Accounts and Import → Send mail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11</a:t>
            </a:r>
          </a:p>
        </p:txBody>
      </p:sp>
      <p:pic>
        <p:nvPicPr>
          <p:cNvPr id="6" name="Picture 5" descr="Screenshot 2026-09-22 at 4.21.54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7" y="1097280"/>
            <a:ext cx="7095744" cy="4434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78607" y="1097280"/>
            <a:ext cx="7095744" cy="443484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50407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Gmail SMTP configuration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32120"/>
            <a:ext cx="10607040" cy="658368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Email: info@novaopstechnologies.online • Treat as an alias: checked • SMTP: mail.smtp2go.com • Port: 587 • TLS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8 — Verify the custom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Gmail sends a confirmation message to info@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12</a:t>
            </a:r>
          </a:p>
        </p:txBody>
      </p:sp>
      <p:pic>
        <p:nvPicPr>
          <p:cNvPr id="6" name="Picture 5" descr="Screenshot 2026-09-22 at 4.37.1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76" y="1143000"/>
            <a:ext cx="6876288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65476" y="1143000"/>
            <a:ext cx="6876288" cy="429768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458968"/>
            <a:ext cx="10835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Gmail confirmation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532120"/>
            <a:ext cx="10332720" cy="658368"/>
          </a:xfrm>
          <a:prstGeom prst="roundRect">
            <a:avLst/>
          </a:prstGeom>
          <a:solidFill>
            <a:srgbClr val="EBF9F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Open the verification email delivered through Cloudflare and click the confirmation link. The address should show as Verified.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9 — Make replies use the custom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This setting controls the From address used for replies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13</a:t>
            </a:r>
          </a:p>
        </p:txBody>
      </p:sp>
      <p:pic>
        <p:nvPicPr>
          <p:cNvPr id="6" name="Picture 5" descr="Screenshot 2026-09-22 at 4.53.27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1005840"/>
            <a:ext cx="7534655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59152" y="1005840"/>
            <a:ext cx="7534655" cy="4709160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7332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Gmail Accounts and Import — Send mail as / reply setting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650992"/>
            <a:ext cx="10332720" cy="566928"/>
          </a:xfrm>
          <a:prstGeom prst="roundRect">
            <a:avLst/>
          </a:prstGeom>
          <a:solidFill>
            <a:srgbClr val="EBF9F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Select: “Reply from the same address to which the message was sent.”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10 — Test outgoing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Test from an external mailbox, then reply from Gmail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Send from an external email to info@novaopstechnologies.online.</a:t>
            </a:r>
          </a:p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Open the forwarded message in Gmail.</a:t>
            </a:r>
          </a:p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Click Reply and check the From field before sending.</a:t>
            </a:r>
          </a:p>
          <a:p>
            <a:pPr>
              <a:spcAft>
                <a:spcPts val="700"/>
              </a:spcAft>
              <a:defRPr sz="1500">
                <a:solidFill>
                  <a:srgbClr val="1E232A"/>
                </a:solidFill>
                <a:latin typeface="Aptos"/>
              </a:defRPr>
            </a:pPr>
            <a:r>
              <a:t>Expected From: info@novaopstechnologies.online.</a:t>
            </a:r>
          </a:p>
        </p:txBody>
      </p:sp>
      <p:pic>
        <p:nvPicPr>
          <p:cNvPr id="7" name="Picture 6" descr="Screenshot 2026-09-22 at 4.50.43 p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85912"/>
            <a:ext cx="5532120" cy="34575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06440" y="1585912"/>
            <a:ext cx="5532120" cy="3457575"/>
          </a:xfrm>
          <a:prstGeom prst="rect">
            <a:avLst/>
          </a:prstGeom>
          <a:noFill/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5550407"/>
            <a:ext cx="5532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5A6473"/>
                </a:solidFill>
              </a:rPr>
              <a:t>Gmail test conversation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40680"/>
            <a:ext cx="10607040" cy="841248"/>
          </a:xfrm>
          <a:prstGeom prst="roundRect">
            <a:avLst/>
          </a:prstGeom>
          <a:solidFill>
            <a:srgbClr val="FFF6E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If the original message was sent from novaopstechnologies@gmail.com itself, Cloudflare may show a duplicate/missing-email warning. Use an external mailbox for the real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Step 11 — Add the remaining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Repeat the Gmail Send mail as process using the same SMTP2GO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914400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b="1" sz="1150">
                <a:solidFill>
                  <a:srgbClr val="162034"/>
                </a:solidFill>
              </a:rPr>
              <a:t>Support</a:t>
            </a:r>
          </a:p>
          <a:p>
            <a:pPr>
              <a:defRPr sz="1050">
                <a:solidFill>
                  <a:srgbClr val="1E232A"/>
                </a:solidFill>
              </a:defRPr>
            </a:pPr>
            <a:r>
              <a:t>support@novaopstechnologies.online</a:t>
            </a:r>
            <a:br/>
            <a:r>
              <a:t>Use the same SMTP2GO server, username and password; verify the address in Gmail.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10515600" cy="914400"/>
          </a:xfrm>
          <a:prstGeom prst="roundRect">
            <a:avLst/>
          </a:prstGeom>
          <a:solidFill>
            <a:srgbClr val="EBF9F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b="1" sz="1150">
                <a:solidFill>
                  <a:srgbClr val="162034"/>
                </a:solidFill>
              </a:rPr>
              <a:t>Admin</a:t>
            </a:r>
          </a:p>
          <a:p>
            <a:pPr>
              <a:defRPr sz="1050">
                <a:solidFill>
                  <a:srgbClr val="1E232A"/>
                </a:solidFill>
              </a:defRPr>
            </a:pPr>
            <a:r>
              <a:t>admin@novaopstechnologies.online</a:t>
            </a:r>
            <a:br/>
            <a:r>
              <a:t>Use the same SMTP2GO server, username and password; verify the address in Gmail.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86200"/>
            <a:ext cx="10515600" cy="914400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b="1" sz="1150">
                <a:solidFill>
                  <a:srgbClr val="162034"/>
                </a:solidFill>
              </a:rPr>
              <a:t>Karthick Suresh</a:t>
            </a:r>
          </a:p>
          <a:p>
            <a:pPr>
              <a:defRPr sz="1050">
                <a:solidFill>
                  <a:srgbClr val="1E232A"/>
                </a:solidFill>
              </a:defRPr>
            </a:pPr>
            <a:r>
              <a:t>karthicksuresh@novaopstechnologies.online</a:t>
            </a:r>
            <a:br/>
            <a:r>
              <a:t>Use the same SMTP2GO server, username and password; verify the address in Gmail.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440680"/>
            <a:ext cx="10332720" cy="685800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Cloudflare routing must exist for each address so Gmail can receive its verification email.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Final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One Gmail mailbox + one SMTP2GO SMTP user + four custom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074920" cy="2834640"/>
          </a:xfrm>
          <a:prstGeom prst="roundRect">
            <a:avLst/>
          </a:prstGeom>
          <a:solidFill>
            <a:srgbClr val="EBF3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INCOMING
Custom address
↓
Cloudflare Email Routing
↓
novaopstechnologies@gmail.com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074920" cy="2834640"/>
          </a:xfrm>
          <a:prstGeom prst="roundRect">
            <a:avLst/>
          </a:prstGeom>
          <a:solidFill>
            <a:srgbClr val="EBF9F1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OUTGOING
Gmail
↓
SMTP2GO
↓
Recipient
From = selected custom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617720"/>
            <a:ext cx="850392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Addresses
info@novaopstechnologies.online
support@novaopstechnologies.online
admin@novaopstechnologies.online
karthicksuresh@novaopstechnologies.online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2034"/>
                </a:solidFill>
                <a:latin typeface="Aptos Display"/>
              </a:rPr>
              <a:t>Troubleshooting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473"/>
                </a:solidFill>
              </a:rPr>
              <a:t>Quick fixes for the issues encountered during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73"/>
                </a:solidFill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781812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b="1" sz="1150">
                <a:solidFill>
                  <a:srgbClr val="162034"/>
                </a:solidFill>
              </a:rPr>
              <a:t>Gmail cannot connect</a:t>
            </a:r>
          </a:p>
          <a:p>
            <a:pPr>
              <a:defRPr sz="1050">
                <a:solidFill>
                  <a:srgbClr val="1E232A"/>
                </a:solidFill>
              </a:defRPr>
            </a:pPr>
            <a:r>
              <a:t>Use mail.smtp2go.com, port 587, TLS, and the SMTP2GO SMTP-user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781812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b="1" sz="1150">
                <a:solidFill>
                  <a:srgbClr val="162034"/>
                </a:solidFill>
              </a:rPr>
              <a:t>Address is unverified</a:t>
            </a:r>
          </a:p>
          <a:p>
            <a:pPr>
              <a:defRPr sz="1050">
                <a:solidFill>
                  <a:srgbClr val="1E232A"/>
                </a:solidFill>
              </a:defRPr>
            </a:pPr>
            <a:r>
              <a:t>Open the Gmail confirmation email delivered through Cloudflare and click the verification link.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71800"/>
            <a:ext cx="781812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b="1" sz="1150">
                <a:solidFill>
                  <a:srgbClr val="162034"/>
                </a:solidFill>
              </a:rPr>
              <a:t>Reply uses Gmail</a:t>
            </a:r>
          </a:p>
          <a:p>
            <a:pPr>
              <a:defRPr sz="1050">
                <a:solidFill>
                  <a:srgbClr val="1E232A"/>
                </a:solidFill>
              </a:defRPr>
            </a:pPr>
            <a:r>
              <a:t>Select “Reply from the same address to which the message was sent.”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931920"/>
            <a:ext cx="781812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b="1" sz="1150">
                <a:solidFill>
                  <a:srgbClr val="162034"/>
                </a:solidFill>
              </a:rPr>
              <a:t>Cloudflare duplicate warning</a:t>
            </a:r>
          </a:p>
          <a:p>
            <a:pPr>
              <a:defRPr sz="1050">
                <a:solidFill>
                  <a:srgbClr val="1E232A"/>
                </a:solidFill>
              </a:defRPr>
            </a:pPr>
            <a:r>
              <a:t>Test from a different external mailbox, not the same Gmail destination.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892040"/>
            <a:ext cx="781812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b="1" sz="1150">
                <a:solidFill>
                  <a:srgbClr val="162034"/>
                </a:solidFill>
              </a:rPr>
              <a:t>Wrong SMTP server</a:t>
            </a:r>
          </a:p>
          <a:p>
            <a:pPr>
              <a:defRPr sz="1050">
                <a:solidFill>
                  <a:srgbClr val="1E232A"/>
                </a:solidFill>
              </a:defRPr>
            </a:pPr>
            <a:r>
              <a:t>Do not use route3.mx.cloudflare.net as the SMTP2GO outgoing server.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73"/>
                </a:solidFill>
              </a:rPr>
              <a:t>NovaOps Technologies • Custom Domain Email Setup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Custom Domain Email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3200400" cy="1234440"/>
          </a:xfrm>
          <a:prstGeom prst="roundRect">
            <a:avLst/>
          </a:prstGeom>
          <a:solidFill>
            <a:srgbClr val="23314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Cloudflare
Receiving &amp; forwarding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965960"/>
            <a:ext cx="3200400" cy="1234440"/>
          </a:xfrm>
          <a:prstGeom prst="roundRect">
            <a:avLst/>
          </a:prstGeom>
          <a:solidFill>
            <a:srgbClr val="23314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Gmail
Mailbox &amp; Send-as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965960"/>
            <a:ext cx="3200400" cy="1234440"/>
          </a:xfrm>
          <a:prstGeom prst="roundRect">
            <a:avLst/>
          </a:prstGeom>
          <a:solidFill>
            <a:srgbClr val="23314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SMTP2GO
Outgoing SMTP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069080"/>
            <a:ext cx="8869680" cy="1097280"/>
          </a:xfrm>
          <a:prstGeom prst="roundRect">
            <a:avLst/>
          </a:prstGeom>
          <a:solidFill>
            <a:srgbClr val="23314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050">
                <a:solidFill>
                  <a:srgbClr val="1E232A"/>
                </a:solidFill>
              </a:rPr>
              <a:t>NovaOps Technologies • info@ • support@ • admin@ • karthicksuresh@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